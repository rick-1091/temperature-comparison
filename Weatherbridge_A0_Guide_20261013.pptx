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1840d685464d29" /><Relationship Type="http://schemas.openxmlformats.org/officeDocument/2006/relationships/extended-properties" Target="/docProps/app.xml" Id="Rab9ab7b133f84291" /><Relationship Type="http://schemas.openxmlformats.org/officeDocument/2006/relationships/officeDocument" Target="/ppt/presentation.xml" Id="R4ca65eb7534048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232dd22f094543"/>
  </p:sldMasterIdLst>
  <p:notesMasterIdLst>
    <p:notesMasterId xmlns:r="http://schemas.openxmlformats.org/officeDocument/2006/relationships" r:id="R635685b94b894f0a"/>
  </p:notesMasterIdLst>
  <p:sldIdLst>
    <p:sldId xmlns:r="http://schemas.openxmlformats.org/officeDocument/2006/relationships" id="256" r:id="R279e0fb075874504"/>
  </p:sldIdLst>
  <p:sldSz cx="42803978" cy="30275784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4fa28b37814fd7" /><Relationship Type="http://schemas.openxmlformats.org/officeDocument/2006/relationships/slideMaster" Target="/ppt/slideMasters/slideMaster1.xml" Id="R77232dd22f094543" /><Relationship Type="http://schemas.openxmlformats.org/officeDocument/2006/relationships/notesMaster" Target="/ppt/notesMasters/notesMaster1.xml" Id="R635685b94b894f0a" /><Relationship Type="http://schemas.openxmlformats.org/officeDocument/2006/relationships/presProps" Target="/ppt/presProps.xml" Id="Rbf44f7bd6d784dff" /><Relationship Type="http://schemas.openxmlformats.org/officeDocument/2006/relationships/viewProps" Target="/ppt/viewProps.xml" Id="R3320ef5a1559422a" /><Relationship Type="http://schemas.openxmlformats.org/officeDocument/2006/relationships/tableStyles" Target="/ppt/tableStyles.xml" Id="R1f3e8632d3734ab3" /><Relationship Type="http://schemas.openxmlformats.org/officeDocument/2006/relationships/slide" Target="/ppt/slides/slide1.xml" Id="R279e0fb0758745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2312ee4ad44a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ebb81677134838" /><Relationship Type="http://schemas.openxmlformats.org/officeDocument/2006/relationships/notesMaster" Target="/ppt/notesMasters/notesMaster1.xml" Id="R913efa50c226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Poster made from the supplied A0 template and all four pages of INFOSCI301_Final_Poster_Annotated_Guide.pdf. Latest GitHub main verified 13 Oct 2026: 67cf9b2f11e2853d8a754cbfebf352c12e32b5b4. Source https://github.com/Rick-1091/Temperature-Comparison/tree/67cf9b2f11e2853d8a754cbfebf352c12e32b5b4 . Exact parent snapshot copied and all seven changed files fetched from the pinned commit. All screenshots freshly captured from the rebuilt production output. Historical results verified with scripts/verify-guided-data.mjs. Courtyard fixture test: scripts/verify-decision-accounting.mjs. Fig 3 is a known heavy-rain developer replay, not a user study. Latest fair-priced contracts: light cost 4.5, heavy cost 21; matching payout 30. Storage has no-contract net -5; heavy-rain baseline -82.8, storage/heavy contract +4. Preparation difference +77.8 and contract +9. Quote/probability correspondence is an explicit teaching assumption. Site and video URLs from supplied records; no claim of site equality. User confirmed no public paper/poster links. Peer names, four sites and roles from supplied report. Research reference https://doi.org/10.1109/TVCG.2009.111 . Official target https://sdgs.un.org/goals/goal13 and icon https://sdgs.un.org/sites/default/files/goals/goal-13.png . Course supplied template and DKU logo preserved.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44e83db78404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c91ad402945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c5003e8644c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df22338ff4c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4cf779df445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3e592f5c7417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4ebb87dc1a4e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6b6a33675446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2082339f14b6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d189370ea4f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ba7337b7394c6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DAEC5A-9532-4AA6-BEC3-BFF8231427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D5E4519-336B-408D-9FD2-5DE7871E38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8A46244-5ED6-4A2A-956A-9137B22208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0488AD0-A9E2-4DFC-914D-9A2FF5B51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485053-9612-4754-9943-4DBFD7DD31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1306A08-B82E-4006-89F5-BE184A09F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AC33DA6-CC20-4350-ACFA-6B70733C465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2EB6026-F7EE-462A-AC56-87F71B823C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7183EC-778D-4D94-9F7F-EFFD5DF241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DE8637-39AD-43E8-84DF-4F898B1235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C697A6-E99E-455D-A15C-0AC773762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948FBC-AD42-4DB3-81C9-7EC210E710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93DF23-DCE7-4AD0-BCB8-20E6065850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45E2D1-E036-4D73-B91E-4DDEAEAF5E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3D91E9-E4A6-446E-B10C-A2E9F8FB73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0010D5-CCFE-49E0-AC2C-356D2F246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2778842-5EC5-46E1-A425-1538C78610D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6902400-1C3A-4FF3-AF66-85F4887BFF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D572F3-E7F5-4971-9F86-6857985F8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C241DF-BCC6-4314-91D3-7573DAF27D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98FA922-4BE5-497D-8A22-26D464A30C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FE849D-3174-460C-BC3D-9304ECEDD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A5363C-3561-4710-9701-EB420AB86C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AA6C30C-ECCE-4D97-9DF2-5AA691E5EB3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FC2EF39-DE9F-4685-8D48-41168FBB7BC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0A9399C-D340-47E7-A3FD-042D29F1CCF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44B72DB-0609-4ADC-A0B6-77C7871EDA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81E8A54-F546-4A28-8937-EDE731D2BB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55ABC14-F094-40EB-A8BA-8D1D8C6D3B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CE846E-7858-4247-A969-BA15A8C82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C30394D-F272-4689-BFDF-198DFD0FE34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FC2627-241F-4888-BC61-992BC118C0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B917EC9-D2A9-4CD8-9F8A-ED1729D13F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7265C2-CBD3-4D4A-AE77-1B23CA0788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C6B2EDC-4676-48B5-B2CB-12FC1EB1C5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B7548EC-0F9D-4C2B-9B53-925FF0A732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BBB198-A2D0-4779-B4CD-3247081C0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7DA6B14-DA6C-404D-ACC1-7BCE33043B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9438004-88AB-4760-87F4-0856CE6603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EA4B88F-A9CB-41B6-B52E-A0318DA4E3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F82B2A2-3489-4E86-8851-02DCAD3D5B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C5B3C27-DC38-4226-A3CF-8304BAB0E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ACFCF0-0C6B-4633-8862-4FAEA823A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0892E73-B097-4572-B695-1053CFC04E2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A8EA4B-83B9-43DD-9A7B-31D4FDCF8F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2BBE4-D054-4F9E-94D5-26238AB2B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C87741D-6CFA-47BC-AD6E-EE4D98E1D8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461195-2206-4762-8639-3CEFF6454B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A86599E-A5E5-4129-B091-301BA424EE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667E45D-E8A3-4A82-8C6F-AEE00B8DF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63F5FA-FFCB-44E0-AE14-88610D64A8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D5EA4-7F2C-4889-B122-F6DEB74744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4AA806-0E5B-4A83-A4FA-1CE7CA165D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E02C0B7-3BE1-4B19-99DC-6BA3EA42CB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69FEBD-EE21-42D6-AB1C-BFB5A4A63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7C00F5-F906-45EA-A687-44FF14855F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BBA2D18-DF88-4003-B373-AEAF92AEA47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C10157-8060-4E15-B9C1-5C1CBDADD4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d4747b6d0547e8" /><Relationship Type="http://schemas.openxmlformats.org/officeDocument/2006/relationships/slideLayout" Target="/ppt/slideLayouts/slideLayout1.xml" Id="R46ae94182fd74ce5" /><Relationship Type="http://schemas.openxmlformats.org/officeDocument/2006/relationships/slideLayout" Target="/ppt/slideLayouts/slideLayout2.xml" Id="Rc3fac4526a664c23" /><Relationship Type="http://schemas.openxmlformats.org/officeDocument/2006/relationships/slideLayout" Target="/ppt/slideLayouts/slideLayout3.xml" Id="R16fb57164aab4ea3" /><Relationship Type="http://schemas.openxmlformats.org/officeDocument/2006/relationships/slideLayout" Target="/ppt/slideLayouts/slideLayout4.xml" Id="R4c64f4575978493b" /><Relationship Type="http://schemas.openxmlformats.org/officeDocument/2006/relationships/slideLayout" Target="/ppt/slideLayouts/slideLayout5.xml" Id="Rbeeb7c032e9a42d9" /><Relationship Type="http://schemas.openxmlformats.org/officeDocument/2006/relationships/slideLayout" Target="/ppt/slideLayouts/slideLayout6.xml" Id="R0cde8f5e6bb542dd" /><Relationship Type="http://schemas.openxmlformats.org/officeDocument/2006/relationships/slideLayout" Target="/ppt/slideLayouts/slideLayout7.xml" Id="Rd5b325f376194a9f" /><Relationship Type="http://schemas.openxmlformats.org/officeDocument/2006/relationships/slideLayout" Target="/ppt/slideLayouts/slideLayout8.xml" Id="R8a32b5495dc0489b" /><Relationship Type="http://schemas.openxmlformats.org/officeDocument/2006/relationships/slideLayout" Target="/ppt/slideLayouts/slideLayout9.xml" Id="R43f4fba57dba4c58" /><Relationship Type="http://schemas.openxmlformats.org/officeDocument/2006/relationships/slideLayout" Target="/ppt/slideLayouts/slideLayout10.xml" Id="R79ff684baa074814" /><Relationship Type="http://schemas.openxmlformats.org/officeDocument/2006/relationships/slideLayout" Target="/ppt/slideLayouts/slideLayout11.xml" Id="R7571fb427f2b4a7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7CD9F01-B038-42F4-BDDA-19CBBA3ACE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1749348-DD20-4D63-8926-9BFB630FA2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9E6684D-58E1-499E-BF06-EC0B216CE75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80378A7-AB73-4106-94B7-3DB5E6F844E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36EB537-E38F-406A-9F6D-6BEC6E209DF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ae94182fd74ce5"/>
    <p:sldLayoutId xmlns:r="http://schemas.openxmlformats.org/officeDocument/2006/relationships" id="2147483650" r:id="Rc3fac4526a664c23"/>
    <p:sldLayoutId xmlns:r="http://schemas.openxmlformats.org/officeDocument/2006/relationships" id="2147483651" r:id="R16fb57164aab4ea3"/>
    <p:sldLayoutId xmlns:r="http://schemas.openxmlformats.org/officeDocument/2006/relationships" id="2147483652" r:id="R4c64f4575978493b"/>
    <p:sldLayoutId xmlns:r="http://schemas.openxmlformats.org/officeDocument/2006/relationships" id="2147483653" r:id="Rbeeb7c032e9a42d9"/>
    <p:sldLayoutId xmlns:r="http://schemas.openxmlformats.org/officeDocument/2006/relationships" id="2147483654" r:id="R0cde8f5e6bb542dd"/>
    <p:sldLayoutId xmlns:r="http://schemas.openxmlformats.org/officeDocument/2006/relationships" id="2147483655" r:id="Rd5b325f376194a9f"/>
    <p:sldLayoutId xmlns:r="http://schemas.openxmlformats.org/officeDocument/2006/relationships" id="2147483656" r:id="R8a32b5495dc0489b"/>
    <p:sldLayoutId xmlns:r="http://schemas.openxmlformats.org/officeDocument/2006/relationships" id="2147483657" r:id="R43f4fba57dba4c58"/>
    <p:sldLayoutId xmlns:r="http://schemas.openxmlformats.org/officeDocument/2006/relationships" id="2147483658" r:id="R79ff684baa074814"/>
    <p:sldLayoutId xmlns:r="http://schemas.openxmlformats.org/officeDocument/2006/relationships" id="2147483659" r:id="R7571fb427f2b4a7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8ce99710e94538" /><Relationship Type="http://schemas.openxmlformats.org/officeDocument/2006/relationships/image" Target="/ppt/media/image.png" Id="R2094466944fa4a5f" /><Relationship Type="http://schemas.openxmlformats.org/officeDocument/2006/relationships/image" Target="/ppt/media/image2.png" Id="R5ba99acc44184c6f" /><Relationship Type="http://schemas.openxmlformats.org/officeDocument/2006/relationships/image" Target="/ppt/media/image3.png" Id="Re0c2766103f24233" /><Relationship Type="http://schemas.openxmlformats.org/officeDocument/2006/relationships/image" Target="/ppt/media/image4.png" Id="Re0841ce355d84bed" /><Relationship Type="http://schemas.openxmlformats.org/officeDocument/2006/relationships/image" Target="/ppt/media/image5.png" Id="Rec78fe0a4ced4789" /><Relationship Type="http://schemas.openxmlformats.org/officeDocument/2006/relationships/image" Target="/ppt/media/image6.png" Id="R0a8dc5b7cfa74ca7" /><Relationship Type="http://schemas.openxmlformats.org/officeDocument/2006/relationships/image" Target="/ppt/media/image7.png" Id="R2340907d049f415f" /><Relationship Type="http://schemas.openxmlformats.org/officeDocument/2006/relationships/image" Target="/ppt/media/image8.png" Id="R67078f1df9e348b6" /><Relationship Type="http://schemas.openxmlformats.org/officeDocument/2006/relationships/image" Target="/ppt/media/image9.png" Id="Rd22ee27b4bb44b4a" /><Relationship Type="http://schemas.openxmlformats.org/officeDocument/2006/relationships/image" Target="/ppt/media/image10.png" Id="Re07efd12773c40e2" /><Relationship Type="http://schemas.openxmlformats.org/officeDocument/2006/relationships/image" Target="/ppt/media/image11.png" Id="Re19ea6bcb15d4b8e" /><Relationship Type="http://schemas.openxmlformats.org/officeDocument/2006/relationships/image" Target="/ppt/media/image12.png" Id="R664fa2fcc5094366" /><Relationship Type="http://schemas.openxmlformats.org/officeDocument/2006/relationships/notesSlide" Target="/ppt/notesSlides/notesSlide1.xml" Id="Rf17e36c16bab44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126384-9CF1-4AE6-9F71-116A7B18E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3978" cy="302757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7780">
            <a:solidFill>
              <a:srgbClr val="FBFA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2965EB77-42B7-4FE5-8F85-CA1AA1292F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4466944fa4a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840" y="777240"/>
            <a:ext cx="3749039" cy="1199692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C336536-C860-4808-8856-A951CC34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804672"/>
            <a:ext cx="320040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INFOSCI 301 · FINAL GROUP PROJECT · A0 LANDSCAPE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FC30A6A-F017-4059-A891-C45331F4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325880"/>
            <a:ext cx="36484560" cy="11612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7200" b="1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Weatherbridge: Weather Signals and Everyday Decisions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F8A76B-EB5C-4AA5-BF4D-D87F015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857500"/>
            <a:ext cx="356616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85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Weather-sensitive workers can inspect market quotes beside airport observations. Nine-day range matches are descriptive, and learning gains remain unmeasured.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7BF0205-B690-47C5-8AA4-56258788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886200"/>
            <a:ext cx="40782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Team 3   Shudan Guan: bilingual communication   Yizhou Zhang: implementation   Xinyuan Lan: evaluation   13 Oct 2026 / 67cf9b2f   Prof. Luyao Zhang   Autumn 2026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3913597D-64CE-4EC7-9763-4F476BB3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34840"/>
            <a:ext cx="4078224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89D6F4-6B08-4E09-BA82-689F1763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00600"/>
            <a:ext cx="12390120" cy="91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E6E581B-5EFC-4C8E-86E7-AD63AF57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01768"/>
            <a:ext cx="117957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01  Question, user task and claim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558146C7-158E-4D5A-A166-D9E2EC5E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8696"/>
            <a:ext cx="1179576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631F3C0-DE52-4CB2-ACF6-2D6FDE9E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52160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304139C-67FC-4B73-B974-FE6FB4D0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5824728"/>
            <a:ext cx="8641080" cy="726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How can people compare weather-market signals with observations and explain their limits?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7442046-8325-44F4-9E58-7FD16A75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6885432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518B807-571A-468A-8F17-A115192C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6858000"/>
            <a:ext cx="8641080" cy="3954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Jinxi boat operators, food-drying households and outdoor business owners.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C0F9679-7522-4151-92C0-C963907E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7918704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CBF47AB-9809-414D-8C22-4A00181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7891272"/>
            <a:ext cx="8641080" cy="726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Choose airport and date. Compare range with observed high; explain one finding and one limit.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026711-E781-480D-A2C0-2F95E880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8951976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LOCAL EVIDENCE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29B3B1B-EC26-48E2-A054-FE54820E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8924544"/>
            <a:ext cx="8641080" cy="726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18 Sep museum visits informed weather-exposure questions. Local usefulness is an inference.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1BB4CF3-C6EF-43D2-AB70-97DC0EB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0094976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CURRENT CLAIM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7AE9BBF-6C30-4819-BB56-AC3B7669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0067544"/>
            <a:ext cx="8641080" cy="7269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Inspectable comparisons: MMMX 6/9 and KLGA 2/9 observed highs fall in the leading price range.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C340498-7814-4908-9E4B-B71E7A68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1237976"/>
            <a:ext cx="31089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D17B6A7-4197-4141-842A-E0BA7200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1210544"/>
            <a:ext cx="8641080" cy="3954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Nine days; no proven forecast skill, learning gain or community benefit.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22EEB58-3F5D-476F-AB05-B56C91A9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1750040"/>
            <a:ext cx="11868912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4B8D630-4723-40D4-93F2-86FCF022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2" y="11914632"/>
            <a:ext cx="9509760" cy="9898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SDG 13, Climate Action. Target 13.3</a:t>
            </a:r>
          </a:p>
          <a:p xmlns:a="http://schemas.openxmlformats.org/drawingml/2006/main">
            <a:pPr algn="l">
              <a:buNone/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Intended: support learning about weather uncertainty.</a:t>
            </a:r>
          </a:p>
          <a:p xmlns:a="http://schemas.openxmlformats.org/drawingml/2006/main">
            <a:pPr algn="l">
              <a:buNone/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Implemented exercise; climate-learning impact unmeasured.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A246778-B83F-4C58-B972-3A199789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976" y="4800600"/>
            <a:ext cx="28410408" cy="91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2EABF8E-8AFA-40C1-90AB-EF352D4B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0" y="5010912"/>
            <a:ext cx="2779776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FIG 1  Five views for one evidence-comparison task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AC111374-086C-4DBE-9766-EF0C3DAC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0" y="5577840"/>
            <a:ext cx="2779776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64A3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9882657-3A73-4C9A-8B40-FA62E2C3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592" y="5696712"/>
            <a:ext cx="27340560" cy="39547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75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Task: compare the highest-priced range with the airport reported high, inspect sources, and explain what the comparison can establish.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1F666E1-ADC5-4A92-988D-A16F26FB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448" y="6419088"/>
            <a:ext cx="5358384" cy="35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913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A  BASIC: PRICE BARS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BDD82D8F-B386-4792-8DFF-650CB6A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448" y="10543032"/>
            <a:ext cx="5138928" cy="3611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MMMX, 19 Sep: 25°C leads at 59.5 cents.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EADBB35-7FD3-466D-92A4-09649635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1448" y="11457432"/>
            <a:ext cx="5138928" cy="1276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Evidence: archived raw Yes quotes.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Select a date to update all bars.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Limit: prices lack established calibration.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CCB703E1-9948-4831-A3D7-C3D0751A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135" y="6419088"/>
            <a:ext cx="5358384" cy="35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913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B  WEATHER NETWORK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9B3A017E-F24A-4E20-8D30-CDB7000F4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135" y="10543032"/>
            <a:ext cx="51389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Seven variables. Edge color shows sign; width shows strength at |r| ≥ 0.3.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5C29A725-510E-4164-A2EB-0AEC7D5A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6136" y="11457432"/>
            <a:ext cx="5138928" cy="1276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Evidence: pooled routine-METAR archive.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Select an edge for r and report count.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Limit: association, not a daily cause.</a:t>
            </a: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4B595A5E-7FF1-45FF-A240-837D425C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0824" y="6419088"/>
            <a:ext cx="5358384" cy="35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913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C  TEMPORAL COMPARISON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FB474FF6-2615-4720-A9C3-9DB5128F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0824" y="10543032"/>
            <a:ext cx="51389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Range blocks and observed-high points show nine daily comparisons.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714AB470-58F6-4465-8222-5C49FDA2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80824" y="11457432"/>
            <a:ext cx="5138928" cy="1276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Evidence: MMMX, 19–27 Sep 2026.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Select any date on the timeline.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Limit: reported high is not official TMAX.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DE52E372-FEF8-4E51-B285-62C4E3AC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5511" y="6419088"/>
            <a:ext cx="5358384" cy="35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913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D  LINKED SELECTION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149D27E3-B65B-4755-A2E1-40AE0B3B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5511" y="10543032"/>
            <a:ext cx="51389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Selecting 24 Sep changes the highlighted date and supporting record.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9C10E41F-1C92-482B-91E0-76BE86AC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5512" y="11457432"/>
            <a:ext cx="5138928" cy="1276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Evidence: working linked date controls.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°C/°F display keeps native-bin verdict.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Limit: no measured comprehension gain.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CD9F392D-339E-47D3-AAC4-AFF7CAA8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0" y="6419088"/>
            <a:ext cx="5358384" cy="35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13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913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E  ADVANCED: HEATMAP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14649574-6846-4BFE-8314-AA0E6654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0" y="10543032"/>
            <a:ext cx="51389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A bin-by-date matrix exposes price mass beyond the leading range.</a:t>
            </a:r>
          </a:p>
        </p:txBody>
      </p:sp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4B3EBABD-2D7F-4969-A42C-B452DFF1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90200" y="11457432"/>
            <a:ext cx="5138928" cy="1276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Evidence: normalized archived price share.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Select a date to inspect its profile.</a:t>
            </a:r>
          </a:p>
          <a:p xmlns:a="http://schemas.openxmlformats.org/drawingml/2006/main">
            <a:pPr algn="l">
              <a:buNone/>
              <a:defRPr sz="18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Tradeoff: denser than bars; task value untested.</a:t>
            </a:r>
          </a:p>
        </p:txBody>
      </p:sp>
      <p:sp>
        <p:nvSpPr>
          <p:cNvPr id="92" name="TextBox 91">
            <a:extLst xmlns:a="http://schemas.openxmlformats.org/drawingml/2006/main">
              <a:ext uri="{FF2B5EF4-FFF2-40B4-BE49-F238E27FC236}">
                <a16:creationId xmlns:a16="http://schemas.microsoft.com/office/drawing/2014/main" id="{85038C32-6779-4381-9648-8CBE1D1E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0592" y="12906375"/>
            <a:ext cx="2743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63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763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763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Sources: NOAA/AviationWeather, https://aviationweather.gov/api/data/metar; Polymarket, https://polymarket.com/ (public access, source terms apply). MMMX/KLGA: 19–27 Sep, °C observations / native °C or °F bins / Yes prices. No daily gaps; ≥20 reports across ≥20 local hours. Quote times differ. Heatmap adds distribution detail; usefulness awaits testing.</a:t>
            </a:r>
          </a:p>
        </p:txBody>
      </p:sp>
      <p:sp>
        <p:nvSpPr>
          <p:cNvPr id="93" name="Rounded Rectangle 92">
            <a:extLst xmlns:a="http://schemas.openxmlformats.org/drawingml/2006/main">
              <a:ext uri="{FF2B5EF4-FFF2-40B4-BE49-F238E27FC236}">
                <a16:creationId xmlns:a16="http://schemas.microsoft.com/office/drawing/2014/main" id="{5373FC57-288E-420D-80AB-D78684C0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4218920"/>
            <a:ext cx="20345400" cy="833018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D7FAAFA3-FEAF-4A77-B1E6-57E8514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447520"/>
            <a:ext cx="1973275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FIG 2  Software architecture at 67cf9b2f</a:t>
            </a:r>
          </a:p>
        </p:txBody>
      </p:sp>
      <p:sp>
        <p:nvSpPr>
          <p:cNvPr id="95" name="Connector 94">
            <a:extLst xmlns:a="http://schemas.openxmlformats.org/drawingml/2006/main">
              <a:ext uri="{FF2B5EF4-FFF2-40B4-BE49-F238E27FC236}">
                <a16:creationId xmlns:a16="http://schemas.microsoft.com/office/drawing/2014/main" id="{C92D118C-58F6-4F31-9D2F-036597D6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14448"/>
            <a:ext cx="19732752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6" name="Rounded Rectangle 95">
            <a:extLst xmlns:a="http://schemas.openxmlformats.org/drawingml/2006/main">
              <a:ext uri="{FF2B5EF4-FFF2-40B4-BE49-F238E27FC236}">
                <a16:creationId xmlns:a16="http://schemas.microsoft.com/office/drawing/2014/main" id="{0A5333FE-28FD-4A1F-98BC-22846437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5636240"/>
            <a:ext cx="3611880" cy="3419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17780">
            <a:solidFill>
              <a:srgbClr val="13796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7" name="TextBox 96">
            <a:extLst xmlns:a="http://schemas.openxmlformats.org/drawingml/2006/main">
              <a:ext uri="{FF2B5EF4-FFF2-40B4-BE49-F238E27FC236}">
                <a16:creationId xmlns:a16="http://schemas.microsoft.com/office/drawing/2014/main" id="{CDBE0F2E-AC56-4F3A-B50C-9072CF3B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5910559"/>
            <a:ext cx="3310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1 · DATA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27B16592-6118-446F-9DD6-AC98F6BB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6504920"/>
            <a:ext cx="331012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Airport reports + quotes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public/signals/data/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{mexico,laguardia}-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unified.json</a:t>
            </a:r>
          </a:p>
        </p:txBody>
      </p:sp>
      <p:sp>
        <p:nvSpPr>
          <p:cNvPr id="99" name="TextBox 98">
            <a:extLst xmlns:a="http://schemas.openxmlformats.org/drawingml/2006/main">
              <a:ext uri="{FF2B5EF4-FFF2-40B4-BE49-F238E27FC236}">
                <a16:creationId xmlns:a16="http://schemas.microsoft.com/office/drawing/2014/main" id="{FEC74FC7-9DF0-4026-99FC-757A088E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16788384"/>
            <a:ext cx="3474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0" name="Rounded Rectangle 99">
            <a:extLst xmlns:a="http://schemas.openxmlformats.org/drawingml/2006/main">
              <a:ext uri="{FF2B5EF4-FFF2-40B4-BE49-F238E27FC236}">
                <a16:creationId xmlns:a16="http://schemas.microsoft.com/office/drawing/2014/main" id="{21EF1389-8385-4D2B-8AA1-0158AD4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15636240"/>
            <a:ext cx="3611880" cy="3419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7780">
            <a:solidFill>
              <a:srgbClr val="13796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TextBox 100">
            <a:extLst xmlns:a="http://schemas.openxmlformats.org/drawingml/2006/main">
              <a:ext uri="{FF2B5EF4-FFF2-40B4-BE49-F238E27FC236}">
                <a16:creationId xmlns:a16="http://schemas.microsoft.com/office/drawing/2014/main" id="{C11B3839-B929-4016-B156-27B1825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15910559"/>
            <a:ext cx="3310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2 · TRANSFORM</a:t>
            </a: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B5C97060-34AC-4355-8CCD-0232FAC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4104" y="16504920"/>
            <a:ext cx="331012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scripts/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fetch-unified-history.ps1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Local dates + coverage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Pre-day quote snapshots</a:t>
            </a:r>
          </a:p>
        </p:txBody>
      </p:sp>
      <p:sp>
        <p:nvSpPr>
          <p:cNvPr id="103" name="TextBox 102">
            <a:extLst xmlns:a="http://schemas.openxmlformats.org/drawingml/2006/main">
              <a:ext uri="{FF2B5EF4-FFF2-40B4-BE49-F238E27FC236}">
                <a16:creationId xmlns:a16="http://schemas.microsoft.com/office/drawing/2014/main" id="{DE9223C0-6BFA-4DD6-AF1D-1506AE4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536" y="16788384"/>
            <a:ext cx="3474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4" name="Rounded Rectangle 103">
            <a:extLst xmlns:a="http://schemas.openxmlformats.org/drawingml/2006/main">
              <a:ext uri="{FF2B5EF4-FFF2-40B4-BE49-F238E27FC236}">
                <a16:creationId xmlns:a16="http://schemas.microsoft.com/office/drawing/2014/main" id="{D48C407A-C95A-4D77-BE91-49E1062A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144" y="15636240"/>
            <a:ext cx="3611880" cy="3419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17780">
            <a:solidFill>
              <a:srgbClr val="13796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5" name="TextBox 104">
            <a:extLst xmlns:a="http://schemas.openxmlformats.org/drawingml/2006/main">
              <a:ext uri="{FF2B5EF4-FFF2-40B4-BE49-F238E27FC236}">
                <a16:creationId xmlns:a16="http://schemas.microsoft.com/office/drawing/2014/main" id="{EBA1E3F5-2AE2-4FE7-8ABE-653D212E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5910559"/>
            <a:ext cx="3310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3 · LOGIC</a:t>
            </a:r>
          </a:p>
        </p:txBody>
      </p:sp>
      <p:sp>
        <p:nvSpPr>
          <p:cNvPr id="106" name="TextBox 105">
            <a:extLst xmlns:a="http://schemas.openxmlformats.org/drawingml/2006/main">
              <a:ext uri="{FF2B5EF4-FFF2-40B4-BE49-F238E27FC236}">
                <a16:creationId xmlns:a16="http://schemas.microsoft.com/office/drawing/2014/main" id="{D96F5132-1D66-4BA7-8A27-CC5D6637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6504920"/>
            <a:ext cx="331012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src/evidence-model.js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src/weather-network.js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src/decision-model.js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Native bins, r, synthetic draw</a:t>
            </a:r>
          </a:p>
        </p:txBody>
      </p:sp>
      <p:sp>
        <p:nvSpPr>
          <p:cNvPr id="107" name="TextBox 106">
            <a:extLst xmlns:a="http://schemas.openxmlformats.org/drawingml/2006/main">
              <a:ext uri="{FF2B5EF4-FFF2-40B4-BE49-F238E27FC236}">
                <a16:creationId xmlns:a16="http://schemas.microsoft.com/office/drawing/2014/main" id="{9E7FC828-A233-47D5-91DC-CED8E22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4167" y="16788384"/>
            <a:ext cx="3474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8" name="Rounded Rectangle 107">
            <a:extLst xmlns:a="http://schemas.openxmlformats.org/drawingml/2006/main">
              <a:ext uri="{FF2B5EF4-FFF2-40B4-BE49-F238E27FC236}">
                <a16:creationId xmlns:a16="http://schemas.microsoft.com/office/drawing/2014/main" id="{953C58F4-D2E3-4228-A1BC-1C91A380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6776" y="15636240"/>
            <a:ext cx="3611880" cy="3419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0F4"/>
          </a:solidFill>
          <a:ln xmlns:a="http://schemas.openxmlformats.org/drawingml/2006/main" w="17780">
            <a:solidFill>
              <a:srgbClr val="13796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9" name="TextBox 108">
            <a:extLst xmlns:a="http://schemas.openxmlformats.org/drawingml/2006/main">
              <a:ext uri="{FF2B5EF4-FFF2-40B4-BE49-F238E27FC236}">
                <a16:creationId xmlns:a16="http://schemas.microsoft.com/office/drawing/2014/main" id="{353CF2B6-0476-4215-BF75-3EB49EE2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367" y="15910559"/>
            <a:ext cx="3310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4 · VIEW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AAF47B9F-6D2A-4790-B6F4-652732DE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1367" y="16504920"/>
            <a:ext cx="331012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src/journey-app.js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src/decision-diorama.js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D3 linked evidence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Lazy Three.js courtyard</a:t>
            </a:r>
          </a:p>
        </p:txBody>
      </p:sp>
      <p:sp>
        <p:nvSpPr>
          <p:cNvPr id="111" name="TextBox 110">
            <a:extLst xmlns:a="http://schemas.openxmlformats.org/drawingml/2006/main">
              <a:ext uri="{FF2B5EF4-FFF2-40B4-BE49-F238E27FC236}">
                <a16:creationId xmlns:a16="http://schemas.microsoft.com/office/drawing/2014/main" id="{9C044B43-F604-432E-AE71-BDE80C5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0" y="16788384"/>
            <a:ext cx="34747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2" name="Rounded Rectangle 111">
            <a:extLst xmlns:a="http://schemas.openxmlformats.org/drawingml/2006/main">
              <a:ext uri="{FF2B5EF4-FFF2-40B4-BE49-F238E27FC236}">
                <a16:creationId xmlns:a16="http://schemas.microsoft.com/office/drawing/2014/main" id="{9F778765-A577-4089-AF79-4025FD5B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80408" y="15636240"/>
            <a:ext cx="3611880" cy="34198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F0EB"/>
          </a:solidFill>
          <a:ln xmlns:a="http://schemas.openxmlformats.org/drawingml/2006/main" w="17780">
            <a:solidFill>
              <a:srgbClr val="13796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3" name="TextBox 112">
            <a:extLst xmlns:a="http://schemas.openxmlformats.org/drawingml/2006/main">
              <a:ext uri="{FF2B5EF4-FFF2-40B4-BE49-F238E27FC236}">
                <a16:creationId xmlns:a16="http://schemas.microsoft.com/office/drawing/2014/main" id="{1229D517-075B-466F-9D92-FAF75225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15910559"/>
            <a:ext cx="331012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53A35"/>
                </a:solidFill>
                <a:latin typeface="Aptos"/>
                <a:ea typeface="Aptos"/>
                <a:cs typeface="Aptos"/>
              </a:rPr>
              <a:t>5 · RELEASE</a:t>
            </a: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CD1D585-54EC-4C96-8229-1A276F62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0" y="16504920"/>
            <a:ext cx="3310128" cy="1207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Vite production dist/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Render deployment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27 accounting fixtures</a:t>
            </a:r>
          </a:p>
          <a:p xmlns:a="http://schemas.openxmlformats.org/drawingml/2006/main">
            <a:pPr algn="ctr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EN/ZH, text + reduced motion</a:t>
            </a:r>
          </a:p>
        </p:txBody>
      </p:sp>
      <p:sp>
        <p:nvSpPr>
          <p:cNvPr id="115" name="TextBox 114">
            <a:extLst xmlns:a="http://schemas.openxmlformats.org/drawingml/2006/main">
              <a:ext uri="{FF2B5EF4-FFF2-40B4-BE49-F238E27FC236}">
                <a16:creationId xmlns:a16="http://schemas.microsoft.com/office/drawing/2014/main" id="{8E63F4FD-8B52-4D8D-9B0D-5650F6B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9522440"/>
            <a:ext cx="19165824" cy="6812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Archived JSON feeds browser comparisons; synthetic decision logic separately feeds the courtyard. A data error points to Research &amp; Data. The courtyard offers text and reduced-motion modes; a failed exercise load asks users to retry.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3BA9AD18-AE79-49EB-9C7A-E3E4823A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0958048"/>
            <a:ext cx="19165824" cy="635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Release: https://temperature-comparison.onrender.com/</a:t>
            </a:r>
          </a:p>
          <a:p xmlns:a="http://schemas.openxmlformats.org/drawingml/2006/main">
            <a:pPr algn="l">
              <a:buNone/>
              <a:defRPr sz="1875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Exact paths above; README.md includes video preview. Code: 67cf9b2f11e2853d8a754cbfebf352c12e32b5b4. Deployed version equality remains unverified.</a:t>
            </a:r>
          </a:p>
        </p:txBody>
      </p:sp>
      <p:sp>
        <p:nvSpPr>
          <p:cNvPr id="117" name="Rounded Rectangle 116">
            <a:extLst xmlns:a="http://schemas.openxmlformats.org/drawingml/2006/main">
              <a:ext uri="{FF2B5EF4-FFF2-40B4-BE49-F238E27FC236}">
                <a16:creationId xmlns:a16="http://schemas.microsoft.com/office/drawing/2014/main" id="{979DF58D-F976-4189-B364-E0FF642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0" y="14218920"/>
            <a:ext cx="20445984" cy="833018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8" name="TextBox 117">
            <a:extLst xmlns:a="http://schemas.openxmlformats.org/drawingml/2006/main">
              <a:ext uri="{FF2B5EF4-FFF2-40B4-BE49-F238E27FC236}">
                <a16:creationId xmlns:a16="http://schemas.microsoft.com/office/drawing/2014/main" id="{33EDED3F-48F1-4F95-8EC3-E382C7C6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0" y="14447520"/>
            <a:ext cx="19842480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FIG 3  Courtyard walkthrough and revised outcome explanation</a:t>
            </a:r>
          </a:p>
        </p:txBody>
      </p:sp>
      <p:sp>
        <p:nvSpPr>
          <p:cNvPr id="119" name="Connector 118">
            <a:extLst xmlns:a="http://schemas.openxmlformats.org/drawingml/2006/main">
              <a:ext uri="{FF2B5EF4-FFF2-40B4-BE49-F238E27FC236}">
                <a16:creationId xmlns:a16="http://schemas.microsoft.com/office/drawing/2014/main" id="{30CFC952-A3A5-4BA2-9FF7-C5D075ED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0" y="15014448"/>
            <a:ext cx="198424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A64A3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0" name="TextBox 119">
            <a:extLst xmlns:a="http://schemas.openxmlformats.org/drawingml/2006/main">
              <a:ext uri="{FF2B5EF4-FFF2-40B4-BE49-F238E27FC236}">
                <a16:creationId xmlns:a16="http://schemas.microsoft.com/office/drawing/2014/main" id="{CE08C033-11D3-424E-A8EA-C94778C8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0" y="15590520"/>
            <a:ext cx="4663440" cy="3497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START</a:t>
            </a:r>
          </a:p>
        </p:txBody>
      </p:sp>
      <p:sp>
        <p:nvSpPr>
          <p:cNvPr id="123" name="TextBox 122">
            <a:extLst xmlns:a="http://schemas.openxmlformats.org/drawingml/2006/main">
              <a:ext uri="{FF2B5EF4-FFF2-40B4-BE49-F238E27FC236}">
                <a16:creationId xmlns:a16="http://schemas.microsoft.com/office/drawing/2014/main" id="{97E6B26F-F7B2-43B8-99C3-1BD8C7CE6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19" y="16962120"/>
            <a:ext cx="365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4" name="TextBox 123">
            <a:extLst xmlns:a="http://schemas.openxmlformats.org/drawingml/2006/main">
              <a:ext uri="{FF2B5EF4-FFF2-40B4-BE49-F238E27FC236}">
                <a16:creationId xmlns:a16="http://schemas.microsoft.com/office/drawing/2014/main" id="{3C7A2703-24EC-4362-803F-C89D624A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0" y="19202400"/>
            <a:ext cx="4645152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Step 1: maize is outside.</a:t>
            </a:r>
          </a:p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Task: protect it and explain costs.</a:t>
            </a:r>
          </a:p>
        </p:txBody>
      </p:sp>
      <p:sp>
        <p:nvSpPr>
          <p:cNvPr id="125" name="TextBox 124">
            <a:extLst xmlns:a="http://schemas.openxmlformats.org/drawingml/2006/main">
              <a:ext uri="{FF2B5EF4-FFF2-40B4-BE49-F238E27FC236}">
                <a16:creationId xmlns:a16="http://schemas.microsoft.com/office/drawing/2014/main" id="{194A0CFC-361A-4C0B-A8AC-AA05C5F3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19" y="15590520"/>
            <a:ext cx="4663440" cy="3497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ACTION: VIEW SIGNAL</a:t>
            </a:r>
          </a:p>
        </p:txBody>
      </p:sp>
      <p:sp>
        <p:nvSpPr>
          <p:cNvPr id="128" name="TextBox 127">
            <a:extLst xmlns:a="http://schemas.openxmlformats.org/drawingml/2006/main">
              <a:ext uri="{FF2B5EF4-FFF2-40B4-BE49-F238E27FC236}">
                <a16:creationId xmlns:a16="http://schemas.microsoft.com/office/drawing/2014/main" id="{2C825A9B-ADBA-40AB-9295-9B9E2DC9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79" y="16962120"/>
            <a:ext cx="365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9" name="TextBox 128">
            <a:extLst xmlns:a="http://schemas.openxmlformats.org/drawingml/2006/main">
              <a:ext uri="{FF2B5EF4-FFF2-40B4-BE49-F238E27FC236}">
                <a16:creationId xmlns:a16="http://schemas.microsoft.com/office/drawing/2014/main" id="{54BF0818-2546-471E-AAC7-3FCBEDFD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0" y="19202400"/>
            <a:ext cx="4645152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Step 2: inspect 15 / 15 / 70 cents.</a:t>
            </a:r>
          </a:p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Teaching probabilities match quotes.</a:t>
            </a:r>
          </a:p>
        </p:txBody>
      </p:sp>
      <p:sp>
        <p:nvSpPr>
          <p:cNvPr id="130" name="TextBox 129">
            <a:extLst xmlns:a="http://schemas.openxmlformats.org/drawingml/2006/main">
              <a:ext uri="{FF2B5EF4-FFF2-40B4-BE49-F238E27FC236}">
                <a16:creationId xmlns:a16="http://schemas.microsoft.com/office/drawing/2014/main" id="{F6FB494B-7EA3-4869-A008-73E03AE8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0" y="15590520"/>
            <a:ext cx="4663440" cy="3497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RESPONSE: STORE</a:t>
            </a:r>
          </a:p>
        </p:txBody>
      </p:sp>
      <p:sp>
        <p:nvSpPr>
          <p:cNvPr id="133" name="TextBox 132">
            <a:extLst xmlns:a="http://schemas.openxmlformats.org/drawingml/2006/main">
              <a:ext uri="{FF2B5EF4-FFF2-40B4-BE49-F238E27FC236}">
                <a16:creationId xmlns:a16="http://schemas.microsoft.com/office/drawing/2014/main" id="{D3E564B3-921F-44DB-BFF7-5BE0169A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240" y="16962120"/>
            <a:ext cx="3657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A64A36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4" name="TextBox 133">
            <a:extLst xmlns:a="http://schemas.openxmlformats.org/drawingml/2006/main">
              <a:ext uri="{FF2B5EF4-FFF2-40B4-BE49-F238E27FC236}">
                <a16:creationId xmlns:a16="http://schemas.microsoft.com/office/drawing/2014/main" id="{C41B4F95-457F-4532-8ED6-0CEE63F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0" y="19202400"/>
            <a:ext cx="4645152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Step 3: store all maize.</a:t>
            </a:r>
          </a:p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Buy heavy contract: cost 21.</a:t>
            </a:r>
          </a:p>
        </p:txBody>
      </p:sp>
      <p:sp>
        <p:nvSpPr>
          <p:cNvPr id="135" name="TextBox 134">
            <a:extLst xmlns:a="http://schemas.openxmlformats.org/drawingml/2006/main">
              <a:ext uri="{FF2B5EF4-FFF2-40B4-BE49-F238E27FC236}">
                <a16:creationId xmlns:a16="http://schemas.microsoft.com/office/drawing/2014/main" id="{5A037AD3-2E5E-40F9-81A2-2E5DCAF1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0" y="15590520"/>
            <a:ext cx="4663440" cy="3497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 b="1">
                <a:solidFill>
                  <a:srgbClr val="13796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REVISED RESULT</a:t>
            </a:r>
          </a:p>
        </p:txBody>
      </p:sp>
      <p:sp>
        <p:nvSpPr>
          <p:cNvPr id="138" name="TextBox 137">
            <a:extLst xmlns:a="http://schemas.openxmlformats.org/drawingml/2006/main">
              <a:ext uri="{FF2B5EF4-FFF2-40B4-BE49-F238E27FC236}">
                <a16:creationId xmlns:a16="http://schemas.microsoft.com/office/drawing/2014/main" id="{11003ACA-883E-408A-85A7-1EE6732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67440" y="19202400"/>
            <a:ext cx="4645152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Step 4: heavy-rain replay.</a:t>
            </a:r>
          </a:p>
          <a:p xmlns:a="http://schemas.openxmlformats.org/drawingml/2006/main">
            <a:pPr algn="l">
              <a:buNone/>
              <a:defRPr sz="187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Baseline −82.8; chosen result +4.</a:t>
            </a:r>
          </a:p>
        </p:txBody>
      </p:sp>
      <p:sp>
        <p:nvSpPr>
          <p:cNvPr id="139" name="TextBox 138">
            <a:extLst xmlns:a="http://schemas.openxmlformats.org/drawingml/2006/main">
              <a:ext uri="{FF2B5EF4-FFF2-40B4-BE49-F238E27FC236}">
                <a16:creationId xmlns:a16="http://schemas.microsoft.com/office/drawing/2014/main" id="{5FD52362-6F74-4FC8-866D-D9D73E21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0" y="20097750"/>
            <a:ext cx="19385280" cy="1924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025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Observed evidence: peer reviewer Sitong Chang questioned market/forecast reliability. Decision: revise source labels and distinguish evidence from simulation. On 13 Oct, the courtyard adds a same-weather baseline: preparation +77.8 and contract +9, total +86.8 in this replay. This developer walkthrough is not a participant retest. Real-world benefit remains unmeasured.</a:t>
            </a:r>
          </a:p>
        </p:txBody>
      </p:sp>
      <p:sp>
        <p:nvSpPr>
          <p:cNvPr id="140" name="Rounded Rectangle 139">
            <a:extLst xmlns:a="http://schemas.openxmlformats.org/drawingml/2006/main">
              <a:ext uri="{FF2B5EF4-FFF2-40B4-BE49-F238E27FC236}">
                <a16:creationId xmlns:a16="http://schemas.microsoft.com/office/drawing/2014/main" id="{308DC7CE-30BD-401D-98FB-870CBC98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860000"/>
            <a:ext cx="12893040" cy="6537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1" name="TextBox 140">
            <a:extLst xmlns:a="http://schemas.openxmlformats.org/drawingml/2006/main">
              <a:ext uri="{FF2B5EF4-FFF2-40B4-BE49-F238E27FC236}">
                <a16:creationId xmlns:a16="http://schemas.microsoft.com/office/drawing/2014/main" id="{3594D8FA-C1AE-4472-BD08-66557E0F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116032"/>
            <a:ext cx="12280392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02  Research, design and validation</a:t>
            </a:r>
          </a:p>
        </p:txBody>
      </p:sp>
      <p:sp>
        <p:nvSpPr>
          <p:cNvPr id="142" name="Connector 141">
            <a:extLst xmlns:a="http://schemas.openxmlformats.org/drawingml/2006/main">
              <a:ext uri="{FF2B5EF4-FFF2-40B4-BE49-F238E27FC236}">
                <a16:creationId xmlns:a16="http://schemas.microsoft.com/office/drawing/2014/main" id="{870DFB4C-E5C2-4746-894C-4E1D6234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82960"/>
            <a:ext cx="12280392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3" name="TextBox 142">
            <a:extLst xmlns:a="http://schemas.openxmlformats.org/drawingml/2006/main">
              <a:ext uri="{FF2B5EF4-FFF2-40B4-BE49-F238E27FC236}">
                <a16:creationId xmlns:a16="http://schemas.microsoft.com/office/drawing/2014/main" id="{CBB65BB5-E64B-4B1A-A9E5-825D4BCD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4048720"/>
            <a:ext cx="12024360" cy="1952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Primary frontier: Open Science, Data Governance and Responsible AI.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Munzner’s nested validation model informs four checks below. Archived sources and linked selections make the comparison inspectable.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https://doi.org/10.1109/TVCG.2009.111</a:t>
            </a:r>
          </a:p>
        </p:txBody>
      </p:sp>
      <p:sp>
        <p:nvSpPr>
          <p:cNvPr id="144" name="TextBox 143">
            <a:extLst xmlns:a="http://schemas.openxmlformats.org/drawingml/2006/main">
              <a:ext uri="{FF2B5EF4-FFF2-40B4-BE49-F238E27FC236}">
                <a16:creationId xmlns:a16="http://schemas.microsoft.com/office/drawing/2014/main" id="{17A79E0F-C7C9-46B3-B3E3-538A94F8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6193750"/>
            <a:ext cx="12024360" cy="28860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Domain: field context; Jinxi usefulness untested.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Data/task: 9 days each, strict 6/9 and 2/9.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Idiom: five working views; human task value untested.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Algorithm: 27 independent accounting fixtures pass.</a:t>
            </a:r>
          </a:p>
          <a:p xmlns:a="http://schemas.openxmlformats.org/drawingml/2006/main">
            <a:pPr algn="l">
              <a:buNone/>
              <a:defRPr sz="21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Next: Xinyuan leads consenting novice comparison and teach-back tasks, including Jinxi volunteers if permission allows. Shudan reviews EN/ZH wording; Yizhou audits the weather parser.</a:t>
            </a:r>
          </a:p>
        </p:txBody>
      </p:sp>
      <p:sp>
        <p:nvSpPr>
          <p:cNvPr id="145" name="Rounded Rectangle 144">
            <a:extLst xmlns:a="http://schemas.openxmlformats.org/drawingml/2006/main">
              <a:ext uri="{FF2B5EF4-FFF2-40B4-BE49-F238E27FC236}">
                <a16:creationId xmlns:a16="http://schemas.microsoft.com/office/drawing/2014/main" id="{592F7F2F-5CBE-414A-A085-4807D914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8608" y="22860000"/>
            <a:ext cx="13926312" cy="6537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6" name="TextBox 145">
            <a:extLst xmlns:a="http://schemas.openxmlformats.org/drawingml/2006/main">
              <a:ext uri="{FF2B5EF4-FFF2-40B4-BE49-F238E27FC236}">
                <a16:creationId xmlns:a16="http://schemas.microsoft.com/office/drawing/2014/main" id="{8EB1C1A3-BAA9-4675-8F2A-77B17200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8" y="23116032"/>
            <a:ext cx="1331366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03  Acknowledgements, credits and AI disclosure</a:t>
            </a:r>
          </a:p>
        </p:txBody>
      </p:sp>
      <p:sp>
        <p:nvSpPr>
          <p:cNvPr id="147" name="Connector 146">
            <a:extLst xmlns:a="http://schemas.openxmlformats.org/drawingml/2006/main">
              <a:ext uri="{FF2B5EF4-FFF2-40B4-BE49-F238E27FC236}">
                <a16:creationId xmlns:a16="http://schemas.microsoft.com/office/drawing/2014/main" id="{B9EE270F-8C3E-45EF-9163-95D63972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2928" y="23682960"/>
            <a:ext cx="13313664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8" name="TextBox 147">
            <a:extLst xmlns:a="http://schemas.openxmlformats.org/drawingml/2006/main">
              <a:ext uri="{FF2B5EF4-FFF2-40B4-BE49-F238E27FC236}">
                <a16:creationId xmlns:a16="http://schemas.microsoft.com/office/drawing/2014/main" id="{8ED722DF-9FCD-48D9-AAB0-B1F121DF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4368" y="24030432"/>
            <a:ext cx="13112496" cy="5124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Instructor: Prof. Luyao Zhang. Peer input: Yixuan Chen, language access; Zhixin Liu, spatial context and explicit comparison; Sitong Chang, forecast reliability and simpler views. Responses: wording review, linked comparisons and source labels. EN/ZH access preceded review; no measured retest gains.</a:t>
            </a:r>
          </a:p>
          <a:p xmlns:a="http://schemas.openxmlformats.org/drawingml/2006/main">
            <a:pPr algn="l">
              <a:buNone/>
              <a:defRPr sz="18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Course field context: Tencent’s Shanghai Office and Shanghai Science and Technology Museum (4 Sep 2026); Jinxi Intangible Cultural Heritage Museum and China Ancient Brick and Tile Museum (18 Sep). Boat-making and brick/tile exhibits informed weather-exposure questions. Visits do not imply project review or endorsement.</a:t>
            </a:r>
          </a:p>
          <a:p xmlns:a="http://schemas.openxmlformats.org/drawingml/2006/main">
            <a:pPr algn="l">
              <a:buNone/>
              <a:defRPr sz="18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Credits: NOAA/AviationWeather and Polymarket (sources and terms in Fig 1). Mike Bostock, D3 7.9.0, https://d3js.org/ (ISC); three.js authors, Three.js 0.186.1, https://threejs.org/ (MIT); Vite contributors, Vite 8.3.0, https://vite.dev/ (MIT). Course A0 template and DKU logo: supplied by INFOSCI 301. UN SDG icon: official communications asset, source below. Team code/screenshots: this release; no repository license declared.</a:t>
            </a:r>
          </a:p>
          <a:p xmlns:a="http://schemas.openxmlformats.org/drawingml/2006/main">
            <a:pPr algn="l">
              <a:buNone/>
              <a:defRPr sz="180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AI disclosure: Cursor, https://cursor.com/ and OpenAI Codex, https://openai.com/codex/ (proprietary services; model versions unrecorded). Humans verify claims and remain responsible. Member contributions appear in the header.</a:t>
            </a:r>
          </a:p>
        </p:txBody>
      </p:sp>
      <p:sp>
        <p:nvSpPr>
          <p:cNvPr id="149" name="Rounded Rectangle 148">
            <a:extLst xmlns:a="http://schemas.openxmlformats.org/drawingml/2006/main">
              <a:ext uri="{FF2B5EF4-FFF2-40B4-BE49-F238E27FC236}">
                <a16:creationId xmlns:a16="http://schemas.microsoft.com/office/drawing/2014/main" id="{2B53F11D-9844-4A25-B84F-19F8FF97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0952" y="22860000"/>
            <a:ext cx="13743432" cy="6537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780">
            <a:solidFill>
              <a:srgbClr val="E5F0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0" name="TextBox 149">
            <a:extLst xmlns:a="http://schemas.openxmlformats.org/drawingml/2006/main">
              <a:ext uri="{FF2B5EF4-FFF2-40B4-BE49-F238E27FC236}">
                <a16:creationId xmlns:a16="http://schemas.microsoft.com/office/drawing/2014/main" id="{7907B98B-07E2-4E24-A419-E368C0FA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5272" y="23116032"/>
            <a:ext cx="13130784" cy="521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32004" rIns="54864" bIns="32004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13796F"/>
                </a:solidFill>
                <a:latin typeface="Aptos"/>
                <a:ea typeface="Aptos"/>
                <a:cs typeface="Aptos"/>
              </a:rPr>
              <a:t>04  Artifact access and version</a:t>
            </a:r>
          </a:p>
        </p:txBody>
      </p:sp>
      <p:sp>
        <p:nvSpPr>
          <p:cNvPr id="151" name="Connector 150">
            <a:extLst xmlns:a="http://schemas.openxmlformats.org/drawingml/2006/main">
              <a:ext uri="{FF2B5EF4-FFF2-40B4-BE49-F238E27FC236}">
                <a16:creationId xmlns:a16="http://schemas.microsoft.com/office/drawing/2014/main" id="{A2A9933C-936B-4330-8ECA-9970760A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5272" y="23682960"/>
            <a:ext cx="1313078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13796F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2" name="TextBox 151">
            <a:extLst xmlns:a="http://schemas.openxmlformats.org/drawingml/2006/main">
              <a:ext uri="{FF2B5EF4-FFF2-40B4-BE49-F238E27FC236}">
                <a16:creationId xmlns:a16="http://schemas.microsoft.com/office/drawing/2014/main" id="{FB4E6733-758B-44C3-90C7-4AAAABA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0" y="24121872"/>
            <a:ext cx="12856464" cy="3695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Working artifact: https://temperature-comparison.onrender.com/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Repository: https://github.com/Rick-1091/Temperature-Comparison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Pinned release: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https://github.com/Rick-1091/Temperature-Comparison/tree/67cf9b2f11e2853d8a754cbfebf352c12e32b5b4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Poster and paper: supplied with submission. Public URLs not yet available.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Demo video: https://youtu.be/J4l93IC2vnM</a:t>
            </a:r>
          </a:p>
          <a:p xmlns:a="http://schemas.openxmlformats.org/drawingml/2006/main">
            <a:pPr algn="l">
              <a:buNone/>
              <a:defRPr sz="1950">
                <a:solidFill>
                  <a:srgbClr val="153A35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53A35"/>
                </a:solidFill>
                <a:latin typeface="Aptos"/>
                <a:ea typeface="Aptos"/>
                <a:cs typeface="Aptos"/>
              </a:rPr>
              <a:t>Recorded 6 Oct; predates the current courtyard model.</a:t>
            </a:r>
          </a:p>
        </p:txBody>
      </p:sp>
      <p:sp>
        <p:nvSpPr>
          <p:cNvPr id="155" name="TextBox 154">
            <a:extLst xmlns:a="http://schemas.openxmlformats.org/drawingml/2006/main">
              <a:ext uri="{FF2B5EF4-FFF2-40B4-BE49-F238E27FC236}">
                <a16:creationId xmlns:a16="http://schemas.microsoft.com/office/drawing/2014/main" id="{4C1DFC5B-A614-40FF-9D0B-EEF660C0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0" y="28003500"/>
            <a:ext cx="12856464" cy="1076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875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Version boundary: screenshots show the local production build at 67cf9b2f. README contains a clickable video preview. Live-site equality, cross-device public access and a version-matched video remain to be checked.</a:t>
            </a:r>
          </a:p>
        </p:txBody>
      </p:sp>
      <p:sp>
        <p:nvSpPr>
          <p:cNvPr id="156" name="TextBox 155">
            <a:extLst xmlns:a="http://schemas.openxmlformats.org/drawingml/2006/main">
              <a:ext uri="{FF2B5EF4-FFF2-40B4-BE49-F238E27FC236}">
                <a16:creationId xmlns:a16="http://schemas.microsoft.com/office/drawing/2014/main" id="{ADFA5AC1-4FD8-4F43-B1A1-2ACE5021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99711"/>
            <a:ext cx="409651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405D72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 algn="l">
              <a:buNone/>
              <a:defRPr sz="1500">
                <a:solidFill>
                  <a:srgbClr val="405D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05D72"/>
                </a:solidFill>
                <a:latin typeface="Aptos"/>
                <a:ea typeface="Aptos"/>
                <a:cs typeface="Aptos"/>
              </a:rPr>
              <a:t>UN SDG source: https://sdgs.un.org/goals/goal13   Icon: https://sdgs.un.org/sites/default/files/goals/goal-13.png   This publication is not approved by or representative of the United Nations.</a:t>
            </a:r>
          </a:p>
        </p:txBody>
      </p:sp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BE945630-1F65-4A7B-800C-FAE0D4276A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a99acc44184c6f"/>
          <a:stretch xmlns:a="http://schemas.openxmlformats.org/drawingml/2006/main"/>
        </p:blipFill>
        <p:spPr>
          <a:xfrm xmlns:a="http://schemas.openxmlformats.org/drawingml/2006/main">
            <a:off x="1399032" y="11960352"/>
            <a:ext cx="1417320" cy="1417320"/>
          </a:xfrm>
          <a:prstGeom xmlns:a="http://schemas.openxmlformats.org/drawingml/2006/main" prst="rect">
            <a:avLst/>
          </a:prstGeom>
        </p:spPr>
      </p:pic>
      <p:pic>
        <p:nvPic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BC2AD926-8605-4AE6-B9FD-FB32615E7B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2766103f24233"/>
          <a:stretch xmlns:a="http://schemas.openxmlformats.org/drawingml/2006/main"/>
        </p:blipFill>
        <p:spPr>
          <a:xfrm xmlns:a="http://schemas.openxmlformats.org/drawingml/2006/main">
            <a:off x="13871890" y="6995160"/>
            <a:ext cx="5074035" cy="3346704"/>
          </a:xfrm>
          <a:prstGeom xmlns:a="http://schemas.openxmlformats.org/drawingml/2006/main" prst="rect">
            <a:avLst/>
          </a:prstGeom>
        </p:spPr>
      </p:pic>
      <p:pic>
        <p:nvPic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1A401A7C-A8F6-410B-90CD-9ADD9B789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41ce355d84bed"/>
          <a:stretch xmlns:a="http://schemas.openxmlformats.org/drawingml/2006/main"/>
        </p:blipFill>
        <p:spPr>
          <a:xfrm xmlns:a="http://schemas.openxmlformats.org/drawingml/2006/main">
            <a:off x="19578062" y="6995160"/>
            <a:ext cx="4671068" cy="3346704"/>
          </a:xfrm>
          <a:prstGeom xmlns:a="http://schemas.openxmlformats.org/drawingml/2006/main" prst="rect">
            <a:avLst/>
          </a:prstGeom>
        </p:spPr>
      </p:pic>
      <p:pic>
        <p:nvPic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4AD825A5-0829-42C5-B569-F9C8238ED3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8fe0a4ced4789"/>
          <a:stretch xmlns:a="http://schemas.openxmlformats.org/drawingml/2006/main"/>
        </p:blipFill>
        <p:spPr>
          <a:xfrm xmlns:a="http://schemas.openxmlformats.org/drawingml/2006/main">
            <a:off x="24880824" y="7531030"/>
            <a:ext cx="5074920" cy="2274964"/>
          </a:xfrm>
          <a:prstGeom xmlns:a="http://schemas.openxmlformats.org/drawingml/2006/main" prst="rect">
            <a:avLst/>
          </a:prstGeom>
        </p:spPr>
      </p:pic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F7A2687-4DB0-4042-A8A8-98E0EEFF8C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dc5b7cfa74ca7"/>
          <a:stretch xmlns:a="http://schemas.openxmlformats.org/drawingml/2006/main"/>
        </p:blipFill>
        <p:spPr>
          <a:xfrm xmlns:a="http://schemas.openxmlformats.org/drawingml/2006/main">
            <a:off x="30385512" y="7509165"/>
            <a:ext cx="5074920" cy="638864"/>
          </a:xfrm>
          <a:prstGeom xmlns:a="http://schemas.openxmlformats.org/drawingml/2006/main" prst="rect">
            <a:avLst/>
          </a:prstGeom>
        </p:spPr>
      </p:pic>
      <p:pic>
        <p:nvPic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28DDAFA-2D64-47C5-B0DF-CCA03B3F3B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0907d049f415f"/>
          <a:stretch xmlns:a="http://schemas.openxmlformats.org/drawingml/2006/main"/>
        </p:blipFill>
        <p:spPr>
          <a:xfrm xmlns:a="http://schemas.openxmlformats.org/drawingml/2006/main">
            <a:off x="31388086" y="8662035"/>
            <a:ext cx="3069771" cy="1676400"/>
          </a:xfrm>
          <a:prstGeom xmlns:a="http://schemas.openxmlformats.org/drawingml/2006/main" prst="rect">
            <a:avLst/>
          </a:prstGeom>
        </p:spPr>
      </p:pic>
      <p:pic>
        <p:nvPic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5138BDE-2150-453A-AD46-BB0D1A6F75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8f1df9e348b6"/>
          <a:stretch xmlns:a="http://schemas.openxmlformats.org/drawingml/2006/main"/>
        </p:blipFill>
        <p:spPr>
          <a:xfrm xmlns:a="http://schemas.openxmlformats.org/drawingml/2006/main">
            <a:off x="36086468" y="6995160"/>
            <a:ext cx="4682384" cy="3346704"/>
          </a:xfrm>
          <a:prstGeom xmlns:a="http://schemas.openxmlformats.org/drawingml/2006/main" prst="rect">
            <a:avLst/>
          </a:prstGeom>
        </p:spPr>
      </p:pic>
      <p:pic>
        <p:nvPic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0348FC7-CC25-4D1D-8505-E0C875BF3C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ee27b4bb44b4a"/>
          <a:stretch xmlns:a="http://schemas.openxmlformats.org/drawingml/2006/main"/>
        </p:blipFill>
        <p:spPr>
          <a:xfrm xmlns:a="http://schemas.openxmlformats.org/drawingml/2006/main">
            <a:off x="22689222" y="16157448"/>
            <a:ext cx="2801291" cy="2816352"/>
          </a:xfrm>
          <a:prstGeom xmlns:a="http://schemas.openxmlformats.org/drawingml/2006/main" prst="rect">
            <a:avLst/>
          </a:prstGeom>
        </p:spPr>
      </p:pic>
      <p:pic>
        <p:nvPic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B43E6D8D-B261-4DDB-9A26-E325EF978D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efd12773c40e2"/>
          <a:stretch xmlns:a="http://schemas.openxmlformats.org/drawingml/2006/main"/>
        </p:blipFill>
        <p:spPr>
          <a:xfrm xmlns:a="http://schemas.openxmlformats.org/drawingml/2006/main">
            <a:off x="26791920" y="17068800"/>
            <a:ext cx="4471416" cy="993648"/>
          </a:xfrm>
          <a:prstGeom xmlns:a="http://schemas.openxmlformats.org/drawingml/2006/main" prst="rect">
            <a:avLst/>
          </a:prstGeom>
        </p:spPr>
      </p:pic>
      <p:pic>
        <p:nvPic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F9FED10-4CAF-4E18-ACD7-03A107D014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ea6bcb15d4b8e"/>
          <a:stretch xmlns:a="http://schemas.openxmlformats.org/drawingml/2006/main"/>
        </p:blipFill>
        <p:spPr>
          <a:xfrm xmlns:a="http://schemas.openxmlformats.org/drawingml/2006/main">
            <a:off x="32564742" y="16157448"/>
            <a:ext cx="2801291" cy="2816352"/>
          </a:xfrm>
          <a:prstGeom xmlns:a="http://schemas.openxmlformats.org/drawingml/2006/main" prst="rect">
            <a:avLst/>
          </a:prstGeom>
        </p:spPr>
      </p:pic>
      <p:pic>
        <p:nvPic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39679A2-9993-4DC2-B131-F38D7D3267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fa2fcc5094366"/>
          <a:stretch xmlns:a="http://schemas.openxmlformats.org/drawingml/2006/main"/>
        </p:blipFill>
        <p:spPr>
          <a:xfrm xmlns:a="http://schemas.openxmlformats.org/drawingml/2006/main">
            <a:off x="36667440" y="17253872"/>
            <a:ext cx="4471416" cy="6235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666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2026-10-13T09:11:17.2440000Z</dcterms:created>
  <dcterms:modified xsi:type="dcterms:W3CDTF">2026-10-13T09:11:17.2440000Z</dcterms:modified>
</coreProperties>
</file>